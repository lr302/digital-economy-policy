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中国数字经济与贸易政策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CCDDEE"/>
                </a:solidFill>
                <a:latin typeface="Microsoft YaHei"/>
              </a:defRPr>
            </a:pPr>
            <a:r>
              <a:t>演变趋势研究（2015—2026）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383280"/>
            <a:ext cx="301752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017"/>
                </a:solidFill>
                <a:latin typeface="Microsoft YaHei"/>
              </a:defRPr>
            </a:pPr>
            <a:r>
              <a:t>数字经济概论 · 课程教学课件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50项核心政策 · 七大方向 · 四大时期 · 八个典型案例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25880"/>
            <a:ext cx="4754880" cy="82296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9903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39903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数字经济政策演变总览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647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四大时期与关键节点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4754880" cy="82296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9903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39903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七大政策方向全景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7647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战略·电商·数据·贸易·平台·AI·基建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331720"/>
            <a:ext cx="4754880" cy="82296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4048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4048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四大时期详解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7706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每期核心政策与典型案例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331720"/>
            <a:ext cx="4754880" cy="82296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048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4048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五部大法对比分析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7706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网安法·电商法·数安法·个保法·反垄断法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337560"/>
            <a:ext cx="4754880" cy="82296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4107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重要政策文件核心要点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7764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数据二十条·数字中国·AI管理等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337560"/>
            <a:ext cx="4754880" cy="82296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4107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4107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四大转折点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7764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政策方向根本性变化的时刻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343400"/>
            <a:ext cx="4754880" cy="82296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4165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4165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六大分析维度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478231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多视角理解政策演进逻辑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343400"/>
            <a:ext cx="4754880" cy="82296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4165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4165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五大核心规律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78231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从50项政策中提炼的模式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5349240"/>
            <a:ext cx="4754880" cy="82296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4223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54223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未来趋势与课堂讨论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578815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趋势研判·讨论题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349240"/>
            <a:ext cx="4754880" cy="82296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4223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4223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AI辅助学习工作流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78815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方法演示与学生任务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数字经济政策演变总览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2015—2026 四大时期的政策演进路径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3/23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97480" cy="43891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697480" cy="7315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C5F8A"/>
                </a:solidFill>
                <a:latin typeface="Microsoft YaHei"/>
              </a:defRPr>
            </a:pPr>
            <a:r>
              <a:t>2015-2016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信息化筑基</a:t>
            </a:r>
            <a:br/>
            <a:r>
              <a:t>数字战略萌芽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5F8A"/>
                </a:solidFill>
                <a:latin typeface="Microsoft YaHei"/>
              </a:defRPr>
            </a:pPr>
            <a:r>
              <a:t>5项核心政策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▸ 互联网+行动指导意见</a:t>
            </a:r>
            <a:br/>
            <a:r>
              <a:t>▸ 大数据行动纲要</a:t>
            </a:r>
            <a:br/>
            <a:r>
              <a:t>▸ 网络安全法</a:t>
            </a:r>
            <a:br/>
            <a:r>
              <a:t>▸ 信息化发展战略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46120" y="3474720"/>
            <a:ext cx="164592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463040"/>
            <a:ext cx="2697480" cy="438912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463040"/>
            <a:ext cx="2697480" cy="73152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A7CBF"/>
                </a:solidFill>
                <a:latin typeface="Microsoft YaHei"/>
              </a:defRPr>
            </a:pPr>
            <a:r>
              <a:t>2017-2019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1945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数字战略</a:t>
            </a:r>
            <a:br/>
            <a:r>
              <a:t>全面铺开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8346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A7CBF"/>
                </a:solidFill>
                <a:latin typeface="Microsoft YaHei"/>
              </a:defRPr>
            </a:pPr>
            <a:r>
              <a:t>8项核心政策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2918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▸ 新一代AI发展规划</a:t>
            </a:r>
            <a:br/>
            <a:r>
              <a:t>▸ 电子商务法</a:t>
            </a:r>
            <a:br/>
            <a:r>
              <a:t>▸ 工业互联网指导意见</a:t>
            </a:r>
            <a:br/>
            <a:r>
              <a:t>▸ 平台经济指导意见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26480" y="3474720"/>
            <a:ext cx="164592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463040"/>
            <a:ext cx="2697480" cy="43891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463040"/>
            <a:ext cx="26974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392B"/>
                </a:solidFill>
                <a:latin typeface="Microsoft YaHei"/>
              </a:defRPr>
            </a:pPr>
            <a:r>
              <a:t>2020-2022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945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治理规范</a:t>
            </a:r>
            <a:br/>
            <a:r>
              <a:t>深度深化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346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392B"/>
                </a:solidFill>
                <a:latin typeface="Microsoft YaHei"/>
              </a:defRPr>
            </a:pPr>
            <a:r>
              <a:t>18项核心政策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918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▸ 数据安全法</a:t>
            </a:r>
            <a:br/>
            <a:r>
              <a:t>▸ 个人信息保护法</a:t>
            </a:r>
            <a:br/>
            <a:r>
              <a:t>▸ 平台反垄断指南</a:t>
            </a:r>
            <a:br/>
            <a:r>
              <a:t>▸ 数据二十条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06840" y="3474720"/>
            <a:ext cx="164592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1463040"/>
            <a:ext cx="2697480" cy="438912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1463040"/>
            <a:ext cx="2697480" cy="7315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A085"/>
                </a:solidFill>
                <a:latin typeface="Microsoft YaHei"/>
              </a:defRPr>
            </a:pPr>
            <a:r>
              <a:t>2023-2026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1945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高质量</a:t>
            </a:r>
            <a:br/>
            <a:r>
              <a:t>加速发展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8346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A085"/>
                </a:solidFill>
                <a:latin typeface="Microsoft YaHei"/>
              </a:defRPr>
            </a:pPr>
            <a:r>
              <a:t>19项核心政策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32918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▸ 数字中国整体规划</a:t>
            </a:r>
            <a:br/>
            <a:r>
              <a:t>▸ 生成式AI管理办法</a:t>
            </a:r>
            <a:br/>
            <a:r>
              <a:t>▸ AI+行动意见</a:t>
            </a:r>
            <a:br/>
            <a:r>
              <a:t>▸ 数据基建指引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七大政策方向全景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从战略到基建 — 覆盖数字经济完整生态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4/23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50876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508760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数字经济</a:t>
            </a:r>
            <a:br/>
            <a:r>
              <a:t>顶层战略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12项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核心政策</a:t>
            </a:r>
            <a:br/>
            <a:r>
              <a:t>逐步完善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1463040"/>
            <a:ext cx="150876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1463040"/>
            <a:ext cx="1508760" cy="7315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16916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Microsoft YaHei"/>
              </a:defRPr>
            </a:pPr>
            <a:r>
              <a:t>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1945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电子商务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8346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5F8A"/>
                </a:solidFill>
                <a:latin typeface="Microsoft YaHei"/>
              </a:defRPr>
            </a:pPr>
            <a:r>
              <a:t>5项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29184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核心政策</a:t>
            </a:r>
            <a:br/>
            <a:r>
              <a:t>逐步完善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1463040"/>
            <a:ext cx="150876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1463040"/>
            <a:ext cx="1508760" cy="73152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16916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Microsoft YaHei"/>
              </a:defRPr>
            </a:pPr>
            <a:r>
              <a:t>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21945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数据治理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28346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A7CBF"/>
                </a:solidFill>
                <a:latin typeface="Microsoft YaHei"/>
              </a:defRPr>
            </a:pPr>
            <a:r>
              <a:t>10项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29184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核心政策</a:t>
            </a:r>
            <a:br/>
            <a:r>
              <a:t>逐步完善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1463040"/>
            <a:ext cx="150876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0" y="1463040"/>
            <a:ext cx="150876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16916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21945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数字贸易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28346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3项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29184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核心政策</a:t>
            </a:r>
            <a:br/>
            <a:r>
              <a:t>逐步完善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1463040"/>
            <a:ext cx="150876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1463040"/>
            <a:ext cx="150876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16916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Microsoft YaHei"/>
              </a:defRPr>
            </a:pPr>
            <a:r>
              <a:t>⚖️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1945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平台经济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8346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6项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29184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核心政策</a:t>
            </a:r>
            <a:br/>
            <a:r>
              <a:t>逐步完善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1463040"/>
            <a:ext cx="150876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1463040"/>
            <a:ext cx="1508760" cy="7315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16916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21945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人工智能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28346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A085"/>
                </a:solidFill>
                <a:latin typeface="Microsoft YaHei"/>
              </a:defRPr>
            </a:pPr>
            <a:r>
              <a:t>5项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29184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核心政策</a:t>
            </a:r>
            <a:br/>
            <a:r>
              <a:t>逐步完善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1463040"/>
            <a:ext cx="150876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1280" y="1463040"/>
            <a:ext cx="1508760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20" y="16916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Microsoft YaHei"/>
              </a:defRPr>
            </a:pPr>
            <a:r>
              <a:t>🏗️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1945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数字基础设施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28346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  <a:latin typeface="Microsoft YaHei"/>
              </a:defRPr>
            </a:pPr>
            <a:r>
              <a:t>6项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329184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核心政策</a:t>
            </a:r>
            <a:br/>
            <a:r>
              <a:t>逐步完善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时期一：信息化筑基与数字战略萌芽（2015-2016）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5/23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120640" cy="411480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核心政策要点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互联网+行动指导意见开启数字战略序幕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大数据发展行动纲要首次将大数据上升为国家战略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国家信息化发展战略纲要提出三步走网络强国目标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网络安全法确立网络空间基础法治框架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十三五信息化规划完成信息化顶层设计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280160"/>
            <a:ext cx="5577840" cy="1874519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案例一：互联网+与共享经济爆发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滴滴出行、共享单车在互联网+政策引导下迅速崛起，开创数字经济场景化应用先河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337560"/>
            <a:ext cx="5577840" cy="1874519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474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案例二：贵阳大数据交易所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319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全国首个大数据交易所成立，为数据要素市场化探索先行经验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时期二：数字战略全面铺开（2017-2019）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6/23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120640" cy="411480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7CBF"/>
                </a:solidFill>
                <a:latin typeface="Microsoft YaHei"/>
              </a:defRPr>
            </a:pPr>
            <a:r>
              <a:t>核心政策要点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新一代AI发展规划确立三步走战略目标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电子商务法成为首部电商领域综合性法律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工业互联网指导意见推动制造业数字化转型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平台经济指导意见首创包容审慎监管原则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数字乡村战略纲要、区块链管理规定等多线并进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280160"/>
            <a:ext cx="5577840" cy="1874519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案例一：AI规划与国产AI产业崛起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百度宣布All in AI，商汤、旷视等AI独角兽快速成长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337560"/>
            <a:ext cx="5577840" cy="1874519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474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案例二：电商法出台与平台经济爆发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319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法律护航下，阿里巴巴、拼多多等平台实现跨越式发展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时期三：治理规范深化（2020-2022）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7/23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120640" cy="411480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核心政策要点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数据安全法+个人信息保护法构建数据法治双支柱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平台经济反垄断指南启动常态化监管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十四五数字经济规划首个专项顶层设计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数据二十条确立数据要素基础制度体系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数据出境安全评估办法建立跨境管理制度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280160"/>
            <a:ext cx="5577840" cy="1874519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案例一：阿里二选一反垄断案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182.28亿元罚单标志平台反垄断元年，推动行业合规变革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337560"/>
            <a:ext cx="5577840" cy="1874519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474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案例二：滴滴赴美上市与数据安全审查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319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标志性事件加速数据出境安全评估制度出台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时期四：高质量加速发展（2023-2026）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8/23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120640" cy="411480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085"/>
                </a:solidFill>
                <a:latin typeface="Microsoft YaHei"/>
              </a:defRPr>
            </a:pPr>
            <a:r>
              <a:t>核心政策要点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数字中国建设整体布局规划提出2522框架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生成式AI管理办法首创敏捷治理范式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AI+行动意见推动AI与六大领域深度融合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国家数据基础设施建设指引明确三步走路径</a:t>
            </a:r>
          </a:p>
          <a:p>
            <a:pPr>
              <a:spcAft>
                <a:spcPts val="600"/>
              </a:spcAft>
              <a:defRPr sz="1250">
                <a:solidFill>
                  <a:srgbClr val="2C3E50"/>
                </a:solidFill>
                <a:latin typeface="Microsoft YaHei"/>
              </a:defRPr>
            </a:pPr>
            <a:r>
              <a:t>● 十五五规划开启数字经济发展新五年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280160"/>
            <a:ext cx="5577840" cy="1874519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案例一：ChatGPT冲击与国产大模型爆发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文心一言、通义千问、豆包等密集发布，中国AI产业进入快车道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337560"/>
            <a:ext cx="5577840" cy="1874519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474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案例二：数据资产入表与市场化实践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319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从数据二十条到数据资产入表，开启数据要素价值释放新阶段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五大数字经济核心法律对比分析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横向比较各部法律的定位、核心制度与功能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9/23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164592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408176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法律名称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1371600"/>
            <a:ext cx="228600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408176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立法目的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9704" y="1371600"/>
            <a:ext cx="301752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08176"/>
            <a:ext cx="2907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核心制度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376" y="1371600"/>
            <a:ext cx="210312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408176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监管机构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56648" y="1371600"/>
            <a:ext cx="214884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11512" y="1408176"/>
            <a:ext cx="2039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数字经济定位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792224"/>
            <a:ext cx="164592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30552" y="1792224"/>
            <a:ext cx="228600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9704" y="1792224"/>
            <a:ext cx="301752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0376" y="1792224"/>
            <a:ext cx="210312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56648" y="1792224"/>
            <a:ext cx="214884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1792224"/>
            <a:ext cx="45720" cy="80467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183794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网络安全法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215798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C5F8A"/>
                </a:solidFill>
                <a:latin typeface="Microsoft YaHei"/>
              </a:defRPr>
            </a:pPr>
            <a:r>
              <a:t>法律 · 2016年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03704" y="1837944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保障网络安全</a:t>
            </a:r>
            <a:br/>
            <a:r>
              <a:t>维护网络空间主权</a:t>
            </a:r>
            <a:br/>
            <a:r>
              <a:t>确立等级保护制度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1837944"/>
            <a:ext cx="28895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网络安全等级保护</a:t>
            </a:r>
            <a:br/>
            <a:r>
              <a:t>CII安全保护</a:t>
            </a:r>
            <a:br/>
            <a:r>
              <a:t>个人信息保护·安全审查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8" y="1929384"/>
            <a:ext cx="1975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国家网信办</a:t>
            </a:r>
            <a:br/>
            <a:r>
              <a:t>工信部 · 公安部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865376"/>
            <a:ext cx="2020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C5F8A"/>
                </a:solidFill>
                <a:latin typeface="Microsoft YaHei"/>
              </a:defRPr>
            </a:pPr>
            <a:r>
              <a:t>网络空间基础</a:t>
            </a:r>
            <a:br/>
            <a:r>
              <a:t>法治框架</a:t>
            </a:r>
            <a:br/>
            <a:r>
              <a:t>数字经济安全基石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633472"/>
            <a:ext cx="16459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30552" y="2633472"/>
            <a:ext cx="22860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9704" y="2633472"/>
            <a:ext cx="30175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0376" y="2633472"/>
            <a:ext cx="2103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56648" y="2633472"/>
            <a:ext cx="2148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2633472"/>
            <a:ext cx="45720" cy="804672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" y="2679192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电子商务法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" y="2999232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A7CBF"/>
                </a:solidFill>
                <a:latin typeface="Microsoft YaHei"/>
              </a:defRPr>
            </a:pPr>
            <a:r>
              <a:t>法律 · 2018年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3704" y="2679192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规范电子商务行为</a:t>
            </a:r>
            <a:br/>
            <a:r>
              <a:t>维护市场秩序</a:t>
            </a:r>
            <a:br/>
            <a:r>
              <a:t>保护各方合法权益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2679192"/>
            <a:ext cx="28895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电商经营者登记</a:t>
            </a:r>
            <a:br/>
            <a:r>
              <a:t>平台责任制度</a:t>
            </a:r>
            <a:br/>
            <a:r>
              <a:t>消费者权益保护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53528" y="2770632"/>
            <a:ext cx="1975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商务部</a:t>
            </a:r>
            <a:br/>
            <a:r>
              <a:t>市场监管总局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2706624"/>
            <a:ext cx="2020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A7CBF"/>
                </a:solidFill>
                <a:latin typeface="Microsoft YaHei"/>
              </a:defRPr>
            </a:pPr>
            <a:r>
              <a:t>电商领域首部</a:t>
            </a:r>
            <a:br/>
            <a:r>
              <a:t>综合性法律</a:t>
            </a:r>
            <a:br/>
            <a:r>
              <a:t>平台责任正式确立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474720"/>
            <a:ext cx="164592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130552" y="3474720"/>
            <a:ext cx="228600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9704" y="3474720"/>
            <a:ext cx="301752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80376" y="3474720"/>
            <a:ext cx="210312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56648" y="3474720"/>
            <a:ext cx="214884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" y="3474720"/>
            <a:ext cx="45720" cy="8046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" y="352044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数据安全法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" y="384048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0392B"/>
                </a:solidFill>
                <a:latin typeface="Microsoft YaHei"/>
              </a:defRPr>
            </a:pPr>
            <a:r>
              <a:t>法律 · 2021年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03704" y="3520440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保障数据安全</a:t>
            </a:r>
            <a:br/>
            <a:r>
              <a:t>促进开发利用</a:t>
            </a:r>
            <a:br/>
            <a:r>
              <a:t>维护国家主权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62856" y="3520440"/>
            <a:ext cx="28895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数据分类分级保护</a:t>
            </a:r>
            <a:br/>
            <a:r>
              <a:t>数据安全审查</a:t>
            </a:r>
            <a:br/>
            <a:r>
              <a:t>数据出境安全管理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53528" y="3611880"/>
            <a:ext cx="1975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国家网信办</a:t>
            </a:r>
            <a:br/>
            <a:r>
              <a:t>国家数据局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3547872"/>
            <a:ext cx="2020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0392B"/>
                </a:solidFill>
                <a:latin typeface="Microsoft YaHei"/>
              </a:defRPr>
            </a:pPr>
            <a:r>
              <a:t>数据领域基础法</a:t>
            </a:r>
            <a:br/>
            <a:r>
              <a:t>安全与发展</a:t>
            </a:r>
            <a:br/>
            <a:r>
              <a:t>双轮驱动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315968"/>
            <a:ext cx="16459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130552" y="4315968"/>
            <a:ext cx="22860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89704" y="4315968"/>
            <a:ext cx="30175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80376" y="4315968"/>
            <a:ext cx="2103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56648" y="4315968"/>
            <a:ext cx="2148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1480" y="4315968"/>
            <a:ext cx="45720" cy="804672"/>
          </a:xfrm>
          <a:prstGeom prst="rect">
            <a:avLst/>
          </a:prstGeom>
          <a:solidFill>
            <a:srgbClr val="D4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208" y="4361688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个人信息保护法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8" y="468172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D44C3C"/>
                </a:solidFill>
                <a:latin typeface="Microsoft YaHei"/>
              </a:defRPr>
            </a:pPr>
            <a:r>
              <a:t>法律 · 2021年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03704" y="436168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保护个人信息权益</a:t>
            </a:r>
            <a:br/>
            <a:r>
              <a:t>规范处理活动</a:t>
            </a:r>
            <a:br/>
            <a:r>
              <a:t>促进合理利用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62856" y="4361688"/>
            <a:ext cx="28895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告知-同意规则</a:t>
            </a:r>
            <a:br/>
            <a:r>
              <a:t>敏感信息保护</a:t>
            </a:r>
            <a:br/>
            <a:r>
              <a:t>个人信息跨境规则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53528" y="4453128"/>
            <a:ext cx="1975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国家网信办</a:t>
            </a:r>
            <a:br/>
            <a:r>
              <a:t>履行个人信息</a:t>
            </a:r>
            <a:br/>
            <a:r>
              <a:t>保护职责的部门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9800" y="4389120"/>
            <a:ext cx="2020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44C3C"/>
                </a:solidFill>
                <a:latin typeface="Microsoft YaHei"/>
              </a:defRPr>
            </a:pPr>
            <a:r>
              <a:t>数字时代</a:t>
            </a:r>
            <a:br/>
            <a:r>
              <a:t>个人权利宪章</a:t>
            </a:r>
            <a:br/>
            <a:r>
              <a:t>与国际GDPR比肩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5157216"/>
            <a:ext cx="164592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130552" y="5157216"/>
            <a:ext cx="228600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489704" y="5157216"/>
            <a:ext cx="301752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580376" y="5157216"/>
            <a:ext cx="210312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756648" y="5157216"/>
            <a:ext cx="2148840" cy="80467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" y="5157216"/>
            <a:ext cx="45720" cy="80467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1208" y="5202936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反垄断法</a:t>
            </a:r>
            <a:br/>
            <a:r>
              <a:t>（2022修正）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1208" y="5522976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D4A017"/>
                </a:solidFill>
                <a:latin typeface="Microsoft YaHei"/>
              </a:defRPr>
            </a:pPr>
            <a:r>
              <a:t>法律 · 2022年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03704" y="5202936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预防和制止垄断</a:t>
            </a:r>
            <a:br/>
            <a:r>
              <a:t>维护公平竞争</a:t>
            </a:r>
            <a:br/>
            <a:r>
              <a:t>保护消费者利益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62856" y="5202936"/>
            <a:ext cx="28895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市场支配地位认定</a:t>
            </a:r>
            <a:br/>
            <a:r>
              <a:t>经营者集中审查</a:t>
            </a:r>
            <a:br/>
            <a:r>
              <a:t>平台经济反垄断专条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53528" y="5294376"/>
            <a:ext cx="1975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市场监管总局</a:t>
            </a:r>
            <a:br/>
            <a:r>
              <a:t>国务院反垄断</a:t>
            </a:r>
            <a:br/>
            <a:r>
              <a:t>委员会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29800" y="5230368"/>
            <a:ext cx="2020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4A017"/>
                </a:solidFill>
                <a:latin typeface="Microsoft YaHei"/>
              </a:defRPr>
            </a:pPr>
            <a:r>
              <a:t>数字经济</a:t>
            </a:r>
            <a:br/>
            <a:r>
              <a:t>竞争规则基础</a:t>
            </a:r>
            <a:br/>
            <a:r>
              <a:t>平台监管利器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" y="5998464"/>
            <a:ext cx="16459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130552" y="5998464"/>
            <a:ext cx="22860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489704" y="5998464"/>
            <a:ext cx="30175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80376" y="5998464"/>
            <a:ext cx="2103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756648" y="5998464"/>
            <a:ext cx="2148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11480" y="5998464"/>
            <a:ext cx="45720" cy="8046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1208" y="604418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关键信息基础设施</a:t>
            </a:r>
            <a:br/>
            <a:r>
              <a:t>安全保护条例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208" y="636422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6A085"/>
                </a:solidFill>
                <a:latin typeface="Microsoft YaHei"/>
              </a:defRPr>
            </a:pPr>
            <a:r>
              <a:t>行政法规 · 2021年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03704" y="6044184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保护CII安全</a:t>
            </a:r>
            <a:br/>
            <a:r>
              <a:t>维护国家安全</a:t>
            </a:r>
            <a:br/>
            <a:r>
              <a:t>保障经济社会运行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62856" y="6044184"/>
            <a:ext cx="28895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CII认定制度</a:t>
            </a:r>
            <a:br/>
            <a:r>
              <a:t>运营者安全保护义务</a:t>
            </a:r>
            <a:br/>
            <a:r>
              <a:t>供应链安全管理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53528" y="6135624"/>
            <a:ext cx="1975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国家网信办</a:t>
            </a:r>
            <a:br/>
            <a:r>
              <a:t>行业主管</a:t>
            </a:r>
            <a:br/>
            <a:r>
              <a:t>部门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29800" y="6071616"/>
            <a:ext cx="2020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6A085"/>
                </a:solidFill>
                <a:latin typeface="Microsoft YaHei"/>
              </a:defRPr>
            </a:pPr>
            <a:r>
              <a:t>数字基础设施</a:t>
            </a:r>
            <a:br/>
            <a:r>
              <a:t>安全底线</a:t>
            </a:r>
            <a:br/>
            <a:r>
              <a:t>国家安全屏障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6400800"/>
            <a:ext cx="11338560" cy="25603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EE"/>
                </a:solidFill>
                <a:latin typeface="Microsoft YaHei"/>
              </a:defRPr>
            </a:pPr>
            <a:r>
              <a:t>法律体系演进路径：网络安全法(2016)→电商法(2018)→数据安全法+个保法(2021)→反垄断法修正(2022) → 从单点突破到体系化治理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重要政策文件核心要点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六大非法律类关键政策文件的核心制度设计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10/23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657600" cy="23317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36576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5087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数据二十条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874520"/>
            <a:ext cx="3438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中共中央 国务院意见 · 2022.12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3108960" cy="91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确立数据产权三权分置（持有权/使用权/经营权）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5117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构建数据要素市场"四梁八柱"制度框架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163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建立数据流通交易与收益分配机制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8152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首次系统回应数据确权世界级难题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467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标志数据正式成为第五大生产要素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371600"/>
            <a:ext cx="3657600" cy="23317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371600"/>
            <a:ext cx="3657600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15087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5F8A"/>
                </a:solidFill>
                <a:latin typeface="Microsoft YaHei"/>
              </a:defRPr>
            </a:pPr>
            <a:r>
              <a:t>数字中国建设</a:t>
            </a:r>
            <a:br/>
            <a:r>
              <a:t>整体布局规划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1874520"/>
            <a:ext cx="3438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中共中央 国务院规划 · 2023.02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2148840"/>
            <a:ext cx="3108960" cy="914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2860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提出"2522"整体框架：两大基础+五位一体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55117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夯实数字基础设施和数据资源体系两大基础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8163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推进"五位一体"深度融合（经/政/文/社/生态）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08152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强化数字技术创新和数字安全屏障两大能力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3467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明确2025/2035两步走战略目标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1371600"/>
            <a:ext cx="3657600" cy="23317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1371600"/>
            <a:ext cx="36576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8" y="15087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平台经济领域</a:t>
            </a:r>
            <a:br/>
            <a:r>
              <a:t>反垄断指南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1874520"/>
            <a:ext cx="3438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国务院反垄断委员会 · 2021.02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2148840"/>
            <a:ext cx="3108960" cy="914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2860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界定算法共谋、轴辐协议等新型垄断行为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55117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明确"二选一""大数据杀熟"构成滥用支配地位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8163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VIE架构经营者集中纳入反垄断审查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08152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首创"平台经济领域"专项反垄断规则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3467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开启全球最大规模平台经济反垄断浪潮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84048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3840480"/>
            <a:ext cx="365760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397764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  <a:latin typeface="Microsoft YaHei"/>
              </a:defRPr>
            </a:pPr>
            <a:r>
              <a:t>生成式AI</a:t>
            </a:r>
            <a:br/>
            <a:r>
              <a:t>服务管理办法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" y="4343400"/>
            <a:ext cx="3438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部门规章 · 2023.08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4617720"/>
            <a:ext cx="3108960" cy="914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7548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全球首批生成式AI专项法规之一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02005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坚持发展与安全并重、创新与治理结合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2852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对To C/To B实施分类分级监管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55040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首创"敏捷治理"范式，不搞一刀切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81558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训练数据合规和内容标识为核心要求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60" y="384048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51960" y="3840480"/>
            <a:ext cx="36576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1688" y="397764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Microsoft YaHei"/>
              </a:defRPr>
            </a:pPr>
            <a:r>
              <a:t>人工智能+</a:t>
            </a:r>
            <a:br/>
            <a:r>
              <a:t>行动意见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61688" y="4343400"/>
            <a:ext cx="3438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国务院意见 · 2025.07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617720"/>
            <a:ext cx="3108960" cy="914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34840" y="47548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推动AI与六领域融合：制造/农业/医疗/教育/金融/交通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4840" y="502005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明确提出"智能经济"新经济形态概念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52852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构建从研发到应用的全链条政策支持体系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40" y="555040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与"十五五"规划衔接，打造经济增长新引擎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4840" y="581558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标志着AI从技术政策迈向产业政策全面升级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384048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92440" y="3840480"/>
            <a:ext cx="3657600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02168" y="397764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国家数据基础设施</a:t>
            </a:r>
            <a:br/>
            <a:r>
              <a:t>建设指引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2168" y="4343400"/>
            <a:ext cx="3438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国家数据局 · 2025.01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4617720"/>
            <a:ext cx="3108960" cy="914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20" y="47548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提出全国一体化数据基础设施建设三步走战略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502005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2026年初步建成，2028年规模化，2029年体系化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52852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构建算力网+数据网+数据流通利用设施三大支柱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555040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东数西算升级为国家数据基础设施核心工程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581558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● 标志着数据基建从"建"到"用"的战略转变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关键政策里程碑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十年间最具标志性的政策演进节点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11/23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1005840" cy="36576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47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2015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240280"/>
            <a:ext cx="1828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Microsoft YaHei"/>
              </a:defRPr>
            </a:pPr>
            <a:r>
              <a:t>互联网+行动</a:t>
            </a:r>
            <a:br/>
            <a:r>
              <a:t>指导意见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数字战略开启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1828800"/>
            <a:ext cx="1005840" cy="36576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1847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2016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240280"/>
            <a:ext cx="1828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Microsoft YaHei"/>
              </a:defRPr>
            </a:pPr>
            <a:r>
              <a:t>网络安全法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安全法治奠基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828800"/>
            <a:ext cx="1005840" cy="365760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847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2017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2240280"/>
            <a:ext cx="1828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Microsoft YaHei"/>
              </a:defRPr>
            </a:pPr>
            <a:r>
              <a:t>新一代AI</a:t>
            </a:r>
            <a:br/>
            <a:r>
              <a:t>发展规划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AI战略启动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1828800"/>
            <a:ext cx="1005840" cy="365760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1847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2018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2240280"/>
            <a:ext cx="1828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Microsoft YaHei"/>
              </a:defRPr>
            </a:pPr>
            <a:r>
              <a:t>电子商务法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电商规则确立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1828800"/>
            <a:ext cx="100584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1847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2021Q1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13248" y="2240280"/>
            <a:ext cx="1828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Microsoft YaHei"/>
              </a:defRPr>
            </a:pPr>
            <a:r>
              <a:t>平台反垄断</a:t>
            </a:r>
            <a:br/>
            <a:r>
              <a:t>指南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平台监管元年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828800"/>
            <a:ext cx="100584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1847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2021Q3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56248" y="2240280"/>
            <a:ext cx="1828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Microsoft YaHei"/>
              </a:defRPr>
            </a:pPr>
            <a:r>
              <a:t>数安法+</a:t>
            </a:r>
            <a:br/>
            <a:r>
              <a:t>个保法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数据法治双柱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1828800"/>
            <a:ext cx="100584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1847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2022Q4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99248" y="2240280"/>
            <a:ext cx="1828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Microsoft YaHei"/>
              </a:defRPr>
            </a:pPr>
            <a:r>
              <a:t>数据二十条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数据制度体系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1828800"/>
            <a:ext cx="1005840" cy="3657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1847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2023Q1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42248" y="2240280"/>
            <a:ext cx="1828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Microsoft YaHei"/>
              </a:defRPr>
            </a:pPr>
            <a:r>
              <a:t>数字中国</a:t>
            </a:r>
            <a:br/>
            <a:r>
              <a:t>整体规划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顶层框架确立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760" y="1828800"/>
            <a:ext cx="1005840" cy="3657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0" y="1847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2023Q3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85248" y="2240280"/>
            <a:ext cx="1828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Microsoft YaHei"/>
              </a:defRPr>
            </a:pPr>
            <a:r>
              <a:t>生成式AI</a:t>
            </a:r>
            <a:br/>
            <a:r>
              <a:t>管理办法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AI敏捷治理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52760" y="1828800"/>
            <a:ext cx="1005840" cy="3657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52760" y="1847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2025Q3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128248" y="2240280"/>
            <a:ext cx="1828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5276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Microsoft YaHei"/>
              </a:defRPr>
            </a:pPr>
            <a:r>
              <a:t>人工智能+</a:t>
            </a:r>
            <a:br/>
            <a:r>
              <a:t>行动意见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527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Microsoft YaHei"/>
              </a:defRPr>
            </a:pPr>
            <a:r>
              <a:t>智能经济加速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114800"/>
            <a:ext cx="1143000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4041648"/>
            <a:ext cx="73152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18688" y="4041648"/>
            <a:ext cx="73152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71616" y="4041648"/>
            <a:ext cx="73152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24544" y="4041648"/>
            <a:ext cx="73152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777472" y="4041648"/>
            <a:ext cx="73152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4206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2015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18688" y="4206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2017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71616" y="4206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2020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24544" y="4206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20272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四大转折点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政策方向发生根本性变化的时刻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12/23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43891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6974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Microsoft YaHei"/>
              </a:defRPr>
            </a:pPr>
            <a:r>
              <a:t>2015年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互联网+开启</a:t>
            </a:r>
            <a:br/>
            <a:r>
              <a:t>数字战略新纪元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互联网+行动指导意见标志着</a:t>
            </a:r>
            <a:br/>
            <a:r>
              <a:t>数字经济正式上升为国家战略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371600"/>
            <a:ext cx="2697480" cy="43891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371600"/>
            <a:ext cx="2697480" cy="7315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6002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5F8A"/>
                </a:solidFill>
                <a:latin typeface="Microsoft YaHei"/>
              </a:defRPr>
            </a:pPr>
            <a:r>
              <a:t>2018-2019年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488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电商法与平台</a:t>
            </a:r>
            <a:br/>
            <a:r>
              <a:t>经济规则初立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电子商务法＋平台经济指导意见</a:t>
            </a:r>
            <a:br/>
            <a:r>
              <a:t>构建数字经济规则框架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371600"/>
            <a:ext cx="2697480" cy="43891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26974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002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2021年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平台反垄断</a:t>
            </a:r>
            <a:br/>
            <a:r>
              <a:t>与数据安全元年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阿里反垄断案＋滴滴数据审查</a:t>
            </a:r>
            <a:br/>
            <a:r>
              <a:t>监管体系集中建立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371600"/>
            <a:ext cx="2697480" cy="43891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371600"/>
            <a:ext cx="2697480" cy="7315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6002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A085"/>
                </a:solidFill>
                <a:latin typeface="Microsoft YaHei"/>
              </a:defRPr>
            </a:pPr>
            <a:r>
              <a:t>2023-2025年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488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AI治理与数据</a:t>
            </a:r>
            <a:br/>
            <a:r>
              <a:t>要素双轮驱动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0175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生成式AI管理＋AI+行动</a:t>
            </a:r>
            <a:br/>
            <a:r>
              <a:t>数据要素市场化全面启动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六大分析维度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多视角理解数字经济政策演进逻辑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13/23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219456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法律体系成熟度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B3A5C"/>
                </a:solidFill>
                <a:latin typeface="Microsoft YaHei"/>
              </a:defRPr>
            </a:pPr>
            <a:r>
              <a:t>从单点突破</a:t>
            </a:r>
            <a:br/>
            <a:r>
              <a:t>到体系化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200400"/>
            <a:ext cx="502919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566160" cy="219456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566160" cy="7315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监管理念演变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5F8A"/>
                </a:solidFill>
                <a:latin typeface="Microsoft YaHei"/>
              </a:defRPr>
            </a:pPr>
            <a:r>
              <a:t>从包容审慎</a:t>
            </a:r>
            <a:br/>
            <a:r>
              <a:t>到规范发展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200400"/>
            <a:ext cx="3017520" cy="27432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200400"/>
            <a:ext cx="1005839" cy="2743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463040"/>
            <a:ext cx="3566160" cy="219456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463040"/>
            <a:ext cx="3566160" cy="73152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产业开放路径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7CBF"/>
                </a:solidFill>
                <a:latin typeface="Microsoft YaHei"/>
              </a:defRPr>
            </a:pPr>
            <a:r>
              <a:t>从消费互联网</a:t>
            </a:r>
            <a:br/>
            <a:r>
              <a:t>到AI+数据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200400"/>
            <a:ext cx="3017520" cy="27432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3200400"/>
            <a:ext cx="1508759" cy="274320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3566160" cy="219456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931920"/>
            <a:ext cx="356616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数据治理框架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392B"/>
                </a:solidFill>
                <a:latin typeface="Microsoft YaHei"/>
              </a:defRPr>
            </a:pPr>
            <a:r>
              <a:t>从数据大国</a:t>
            </a:r>
            <a:br/>
            <a:r>
              <a:t>到数据强国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669280"/>
            <a:ext cx="3017520" cy="27432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669280"/>
            <a:ext cx="2011679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3931920"/>
            <a:ext cx="3566160" cy="219456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931920"/>
            <a:ext cx="356616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国际规则对接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846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A017"/>
                </a:solidFill>
                <a:latin typeface="Microsoft YaHei"/>
              </a:defRPr>
            </a:pPr>
            <a:r>
              <a:t>从被动接受</a:t>
            </a:r>
            <a:br/>
            <a:r>
              <a:t>到主动塑造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5669280"/>
            <a:ext cx="3017520" cy="27432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17720" y="5669280"/>
            <a:ext cx="2514600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931920"/>
            <a:ext cx="3566160" cy="219456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3931920"/>
            <a:ext cx="3566160" cy="7315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制度创新节奏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846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6A085"/>
                </a:solidFill>
                <a:latin typeface="Microsoft YaHei"/>
              </a:defRPr>
            </a:pPr>
            <a:r>
              <a:t>从试点先行</a:t>
            </a:r>
            <a:br/>
            <a:r>
              <a:t>到全国推广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5669280"/>
            <a:ext cx="3017520" cy="27432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12480" y="5669280"/>
            <a:ext cx="3017519" cy="274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五大核心规律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从50项政策中提炼的演进模式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14/23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194560" cy="43891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194560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技术驱动 → 政策引导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早期互联网技术倒逼政策出台</a:t>
            </a:r>
            <a:br/>
            <a:r>
              <a:t>近期政策前瞻布局引领AI/数据方向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371600"/>
            <a:ext cx="2194560" cy="43891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371600"/>
            <a:ext cx="2194560" cy="7315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600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C5F8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148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试点—推广— 立法</a:t>
            </a:r>
            <a:br/>
            <a:r>
              <a:t>三步走模式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自贸区先行→全国推广→正式立法</a:t>
            </a:r>
            <a:br/>
            <a:r>
              <a:t>几乎所有数字经济政策都经历此过程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94560" cy="43891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371600"/>
            <a:ext cx="2194560" cy="73152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600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A7CB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148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发展与安全</a:t>
            </a:r>
            <a:br/>
            <a:r>
              <a:t>动态平衡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始终在鼓励创新和规范监管间</a:t>
            </a:r>
            <a:br/>
            <a:r>
              <a:t>寻求最优平衡点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1371600"/>
            <a:ext cx="2194560" cy="43891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1371600"/>
            <a:ext cx="219456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1600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392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148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顶层设计</a:t>
            </a:r>
            <a:br/>
            <a:r>
              <a:t>日趋系统化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从单一文件到数字中国整体规划</a:t>
            </a:r>
            <a:br/>
            <a:r>
              <a:t>从多部门管理到国家数据局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371600"/>
            <a:ext cx="2194560" cy="438912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371600"/>
            <a:ext cx="2194560" cy="7315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1600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A08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48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国际竞争 +</a:t>
            </a:r>
            <a:br/>
            <a:r>
              <a:t>国内治理双驱动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中美科技竞争加速迭代</a:t>
            </a:r>
            <a:br/>
            <a:r>
              <a:t>RCEP/DEPA推动规则接轨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未来趋势研判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2026年后的五大政策方向判断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15/23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10312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103120" cy="73152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1645920"/>
            <a:ext cx="502920" cy="502920"/>
          </a:xfrm>
          <a:prstGeom prst="ellipse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AI治理</a:t>
            </a:r>
            <a:br/>
            <a:r>
              <a:t>核心议题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将从AI+行动迈向</a:t>
            </a:r>
            <a:br/>
            <a:r>
              <a:t>系统性AI立法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371600"/>
            <a:ext cx="210312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371600"/>
            <a:ext cx="210312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164592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数据要素</a:t>
            </a:r>
            <a:br/>
            <a:r>
              <a:t>规模化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200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数据产权、定价、</a:t>
            </a:r>
            <a:br/>
            <a:r>
              <a:t>交易制度全面完善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0312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371600"/>
            <a:ext cx="21031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06440" y="1645920"/>
            <a:ext cx="502920" cy="50292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数字贸易</a:t>
            </a:r>
            <a:br/>
            <a:r>
              <a:t>规则竞争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200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跨境数据流动</a:t>
            </a:r>
            <a:br/>
            <a:r>
              <a:t>数字税成国际焦点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371600"/>
            <a:ext cx="210312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1371600"/>
            <a:ext cx="2103120" cy="7315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92440" y="1645920"/>
            <a:ext cx="502920" cy="50292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基建从</a:t>
            </a:r>
            <a:br/>
            <a:r>
              <a:t>建到用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200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东数西算、算力网络</a:t>
            </a:r>
            <a:br/>
            <a:r>
              <a:t>进入运营优化期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371600"/>
            <a:ext cx="2103120" cy="41148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371600"/>
            <a:ext cx="2103120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78440" y="164592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数字经济+</a:t>
            </a:r>
            <a:br/>
            <a:r>
              <a:t>绿色融合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3200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算力绿色化</a:t>
            </a:r>
            <a:br/>
            <a:r>
              <a:t>数字化碳管理兴起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课堂讨论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DISCUSSION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16/23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1. 中国数字经济政策为何在2021年出现从鼓励到规范的明显转向？背后的经济和政治逻辑是什么？</a:t>
            </a:r>
          </a:p>
          <a:p>
            <a:pPr algn="l">
              <a:spcAft>
                <a:spcPts val="18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2. 对比中美两国在AI治理上的不同路径，各自有何优劣？</a:t>
            </a:r>
          </a:p>
          <a:p>
            <a:pPr algn="l">
              <a:spcAft>
                <a:spcPts val="18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3. 数据二十条提出的三权分置（持有权、使用权、经营权）在实际操作中面临哪些挑战？</a:t>
            </a:r>
          </a:p>
          <a:p>
            <a:pPr algn="l">
              <a:spcAft>
                <a:spcPts val="18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4. 生成式AI管理办法采用敏捷治理模式，这种模式是否值得其他新兴技术领域借鉴？</a:t>
            </a:r>
          </a:p>
          <a:p>
            <a:pPr algn="l">
              <a:spcAft>
                <a:spcPts val="18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5. 十五五期间中国数字经济政策最可能的突破方向是什么？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50项核心政策清单（1/2）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50 KEY POLICIES: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17/23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P001 互联网+行动指导意见 (2015)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282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P002 促进大数据发展行动纲要 (2015)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305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P003 国家信息化发展战略纲要 (2016)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P004 十三五国家信息化规划 (2016)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3522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P005 网络安全法 (2016)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P006 新一代AI发展规划 (2017)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3989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P007 发展工业互联网指导意见 (2017)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422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P008 电子商务法 (2018)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445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P009 平台经济规范健康发展意见 (2019)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4690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P010 数字乡村发展战略纲要 (2019)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P011 区块链信息服务管理规定 (2019)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5157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P012 上云用数赋智行动方案 (2020)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539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P013 数据安全法 (2021)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325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P014 个人信息保护法 (2021)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7282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P015 关键信息基础设施保护条例 (2021)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305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P016 平台经济反垄断指南 (2021)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328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P017 算法推荐管理规定 (2021)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93522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P018 数据出境安全评估办法 (2022)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337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P019 十四五数字经济发展规划 (2021)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3989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P020 数据二十条 (2022)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1422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P021 数字政府建设指导意见 (2022)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445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P022 个人信息出境标准合同办法 (2023)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94690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P023 数字中国整体布局规划 (2023)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349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P024 全国一体化大数据中心意见 (2021)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75157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P025 生成式AI管理办法 (2023)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50项核心政策清单（2/2）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50 KEY POLICIES: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18/23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P026 平台经济规范健康持续发展 (2022)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282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P027 AI场景创新指导意见 (2022)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305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P028 个人信息保护认证规则 (2023)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P029 数字乡村发展行动计划 (2022)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3522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P030 加快5G发展通知 (2022)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P031 数据跨境流动规定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3989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P032 数字商务三年行动计划 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422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P033 人工智能+行动意见 (2025)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445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P034 国家数据基础设施建设指引 (2025)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4690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P035 算力基础设施行动计划 (2023)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P036 网络安全法修订 (2025)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5157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P037 互联网平台反垄断合规指引 (2026)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539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P038 电子商务高质量发展意见 (2026)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325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P039 反垄断法修正 (2022)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7282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P040 科技伦理治理意见 (2022)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305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P041 国家文化数字化战略 (2022)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328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P042 网络信息内容生态治理规定 (2019)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93522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P043 跨境电商综试区税收政策 (2018)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337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P044 自贸区深化改革支持数字贸易 (2018)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3989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P045 外商投资优化意见 (2023)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1422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P046 网络安全审查办法 (2022)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445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P047 上海市数据条例 (2021)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94690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P048 网络交易监督管理办法 (2021)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349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P049 数据标注产业高质量发展 (2025)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75157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P050 十五五规划纲要 (2026)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知识库与参考资源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KNOWLEDGE BASE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19/23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知识库目录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2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▸ 数字经济政策知识库/README.md — 知识库总索引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585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▸ 数字经济政策知识库/知识笔记/ — 50篇政策Markdown笔记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4261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▸ 数字经济政策知识库/ — 4篇时期概述（含8个典型案例）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2666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▸ 数字经济政策知识库/数字经济政策演变趋势分析报告.md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1071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▸ 数字经济政策知识库/政策文件元数据清单.csv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推荐官方来源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▸ 中国政府网 (www.gov.cn) — 政策文件库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2744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▸ 国家互联网信息办公室 (www.cac.gov.cn)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1149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▸ 商务部 (www.mofcom.gov.cn)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9554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▸ 国家市场监督管理总局 (www.samr.gov.cn)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7959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▸ 国家数据局 (www.nda.gov.cn)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本课件制作方法：AI辅助学习工作流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A practical AI-empowered research workflow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20/23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783080" cy="4572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783080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155448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需求定义</a:t>
            </a:r>
            <a:br/>
            <a:r>
              <a:t>范围确定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5F8A"/>
                </a:solidFill>
                <a:latin typeface="Microsoft YaHei"/>
              </a:defRPr>
            </a:pPr>
            <a:r>
              <a:t>Requirements</a:t>
            </a:r>
            <a:br/>
            <a:r>
              <a:t>&amp;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91840"/>
            <a:ext cx="1234440" cy="1371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4747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明确研究目标</a:t>
            </a:r>
            <a:br/>
            <a:r>
              <a:t>数字经济与贸易政策</a:t>
            </a:r>
            <a:br/>
            <a:r>
              <a:t>七大方向、四大时期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25196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Define research scope</a:t>
            </a:r>
            <a:br/>
            <a:r>
              <a:t>Digital economy policies</a:t>
            </a:r>
            <a:br/>
            <a:r>
              <a:t>7 directions, 4 periods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157984" y="3474720"/>
            <a:ext cx="54864" cy="1371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21992" y="1371600"/>
            <a:ext cx="1783080" cy="4572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21992" y="1371600"/>
            <a:ext cx="1783080" cy="7315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80360" y="1554480"/>
            <a:ext cx="457200" cy="4572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21945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知识采集</a:t>
            </a:r>
            <a:br/>
            <a:r>
              <a:t>资料搜集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5F8A"/>
                </a:solidFill>
                <a:latin typeface="Microsoft YaHei"/>
              </a:defRPr>
            </a:pPr>
            <a:r>
              <a:t>Knowledge</a:t>
            </a:r>
            <a:br/>
            <a:r>
              <a:t>Collection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312" y="3291840"/>
            <a:ext cx="1234440" cy="13716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95144" y="34747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50份核心政策</a:t>
            </a:r>
            <a:br/>
            <a:r>
              <a:t>七大方向并行搜索</a:t>
            </a:r>
            <a:br/>
            <a:r>
              <a:t>批量整理归档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5144" y="425196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50 policy documents</a:t>
            </a:r>
            <a:br/>
            <a:r>
              <a:t>Multi-direction search</a:t>
            </a:r>
            <a:br/>
            <a:r>
              <a:t>Batch compilation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014216" y="3474720"/>
            <a:ext cx="54864" cy="1371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78224" y="1371600"/>
            <a:ext cx="1783080" cy="4572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78224" y="1371600"/>
            <a:ext cx="1783080" cy="73152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36592" y="1554480"/>
            <a:ext cx="457200" cy="457200"/>
          </a:xfrm>
          <a:prstGeom prst="ellipse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23944" y="21945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知识整理</a:t>
            </a:r>
            <a:br/>
            <a:r>
              <a:t>结构化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3944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5F8A"/>
                </a:solidFill>
                <a:latin typeface="Microsoft YaHei"/>
              </a:defRPr>
            </a:pPr>
            <a:r>
              <a:t>Knowledge</a:t>
            </a:r>
            <a:br/>
            <a:r>
              <a:t>Organization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2544" y="3291840"/>
            <a:ext cx="1234440" cy="13716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51376" y="34747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50篇Markdown笔记</a:t>
            </a:r>
            <a:br/>
            <a:r>
              <a:t>YAML元数据标注</a:t>
            </a:r>
            <a:br/>
            <a:r>
              <a:t>时期分类体系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51376" y="425196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50 Markdown notes</a:t>
            </a:r>
            <a:br/>
            <a:r>
              <a:t>YAML metadata</a:t>
            </a:r>
            <a:br/>
            <a:r>
              <a:t>Period classification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870448" y="3474720"/>
            <a:ext cx="54864" cy="1371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34456" y="1371600"/>
            <a:ext cx="1783080" cy="4572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1371600"/>
            <a:ext cx="17830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92824" y="15544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0176" y="21945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典型案例</a:t>
            </a:r>
            <a:br/>
            <a:r>
              <a:t>研究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0176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5F8A"/>
                </a:solidFill>
                <a:latin typeface="Microsoft YaHei"/>
              </a:defRPr>
            </a:pPr>
            <a:r>
              <a:t>Case Study</a:t>
            </a:r>
            <a:br/>
            <a:r>
              <a:t>Research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8776" y="3291840"/>
            <a:ext cx="1234440" cy="137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07608" y="34747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8个标志性案例</a:t>
            </a:r>
            <a:br/>
            <a:r>
              <a:t>每时期2个</a:t>
            </a:r>
            <a:br/>
            <a:r>
              <a:t>政策落地的实证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07608" y="425196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8 landmark cases</a:t>
            </a:r>
            <a:br/>
            <a:r>
              <a:t>2 per period</a:t>
            </a:r>
            <a:br/>
            <a:r>
              <a:t>Real-world evidence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7726680" y="3474720"/>
            <a:ext cx="54864" cy="1371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90688" y="1371600"/>
            <a:ext cx="1783080" cy="4572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0688" y="1371600"/>
            <a:ext cx="17830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49056" y="1554480"/>
            <a:ext cx="457200" cy="4572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36408" y="21945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演变趋势</a:t>
            </a:r>
            <a:br/>
            <a:r>
              <a:t>分析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36408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5F8A"/>
                </a:solidFill>
                <a:latin typeface="Microsoft YaHei"/>
              </a:defRPr>
            </a:pPr>
            <a:r>
              <a:t>Trend</a:t>
            </a:r>
            <a:br/>
            <a:r>
              <a:t>Analysis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65008" y="3291840"/>
            <a:ext cx="1234440" cy="1371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34747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六大维度分析</a:t>
            </a:r>
            <a:br/>
            <a:r>
              <a:t>四大转折点</a:t>
            </a:r>
            <a:br/>
            <a:r>
              <a:t>五大核心规律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425196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6 dimensions analysis</a:t>
            </a:r>
            <a:br/>
            <a:r>
              <a:t>4 turning points</a:t>
            </a:r>
            <a:br/>
            <a:r>
              <a:t>5 core patterns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9582912" y="3474720"/>
            <a:ext cx="54864" cy="1371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46920" y="1371600"/>
            <a:ext cx="1783080" cy="4572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46920" y="1371600"/>
            <a:ext cx="1783080" cy="7315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305288" y="1554480"/>
            <a:ext cx="457200" cy="45720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21945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内容生成</a:t>
            </a:r>
            <a:br/>
            <a:r>
              <a:t>课件制作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2743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5F8A"/>
                </a:solidFill>
                <a:latin typeface="Microsoft YaHei"/>
              </a:defRPr>
            </a:pPr>
            <a:r>
              <a:t>Content</a:t>
            </a:r>
            <a:br/>
            <a:r>
              <a:t>Generation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21240" y="3291840"/>
            <a:ext cx="1234440" cy="1371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20072" y="34747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Microsoft YaHei"/>
              </a:defRPr>
            </a:pPr>
            <a:r>
              <a:t>趋势分析报告</a:t>
            </a:r>
            <a:br/>
            <a:r>
              <a:t>21页中文PPT</a:t>
            </a:r>
            <a:br/>
            <a:r>
              <a:t>知识库完整归档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20072" y="425196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8C8D"/>
                </a:solidFill>
                <a:latin typeface="Microsoft YaHei"/>
              </a:defRPr>
            </a:pPr>
            <a:r>
              <a:t>Analysis report</a:t>
            </a:r>
            <a:br/>
            <a:r>
              <a:t>21-slide PPT</a:t>
            </a:r>
            <a:br/>
            <a:r>
              <a:t>Full knowledge base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6126480"/>
            <a:ext cx="114300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Microsoft YaHei"/>
              </a:defRPr>
            </a:pPr>
            <a:r>
              <a:t>核心理念：政策文本 → 案例实证 → 趋势提炼 → 成果输出 —— AI让一个人拥有一支研究团队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学生任务：用AI辅助完成一项政策研究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Student Assignment: Policy Research with AI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21/23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6858000" cy="475488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任务说明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结合《数字经济概论》课程内容，自主选择一个知识点模块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（如平台经济治理、数据安全体系、AI政策、跨境数据流动等），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运用AI辅助学习工作流完成以下任务：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步骤一：搜集该领域的核心政策文件（不少于5份）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使用搜索工具从官方渠道获取政策原文、发文号、发布日期等信息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步骤二：建立结构化知识笔记（Markdown + YAML元数据）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每份政策创建一个笔记文件，标注分类、时期、重要性等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6A085"/>
                </a:solidFill>
                <a:latin typeface="Microsoft YaHei"/>
              </a:defRPr>
            </a:pPr>
            <a:r>
              <a:t>步骤三：选取2个典型案例进行深度分析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案例应直接反映政策效果，涵盖背景、政策关联、影响、启示四要素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3A7CBF"/>
                </a:solidFill>
                <a:latin typeface="Microsoft YaHei"/>
              </a:defRPr>
            </a:pPr>
            <a:r>
              <a:t>步骤四：分析该领域的政策演变趋势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从至少3个维度分析，提炼2-3个核心规律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8E44AD"/>
                </a:solidFill>
                <a:latin typeface="Microsoft YaHei"/>
              </a:defRPr>
            </a:pPr>
            <a:r>
              <a:t>步骤五：制作5-8页PPT课件进行课堂展示（5分钟）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鼓励使用AI工具辅助PPT生成和排版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371600"/>
            <a:ext cx="4069080" cy="475488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学习目标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Aft>
                <a:spcPts val="10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通过完成本次任务，你将：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Aft>
                <a:spcPts val="600"/>
              </a:spcAft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✓ 深度学习一个数字经济专业模块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✓ 掌握AI辅助研究的标准工作流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✓ 学会从散落信息中提炼结构化知识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✓ 提升政策分析和趋势判断能力</a:t>
            </a:r>
          </a:p>
          <a:p>
            <a:pPr algn="l">
              <a:spcAft>
                <a:spcPts val="1200"/>
              </a:spcAft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✓ 获得AI工具实战经验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 algn="ctr">
              <a:spcAft>
                <a:spcPts val="800"/>
              </a:spcAft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推荐AI工具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WorkBuddy / ChatGPT / Kimi / 豆包</a:t>
            </a:r>
          </a:p>
          <a:p>
            <a:pPr algn="ctr">
              <a:spcAft>
                <a:spcPts val="1000"/>
              </a:spcAft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Notion / Obsidian / 飞书知识库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提交截止：下次课前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内容总结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Microsoft YaHei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22/23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🔑 核心发现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● 从互联网+到AI+，中国数字经济政策十年实现四次重大跃迁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● 法律体系从单点突破演进到体系化治理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● 监管理念从包容审慎转向精准规范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● 数据治理框架已初步成型，正加速市场化落地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🎯 核心能力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● 政策搜集与整理能力 → 结构化思考能力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● 案例分析能力 → 理论与实证结合能力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661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● 趋势分析能力 → 前瞻性判断能力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2062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● AI工具驾驭能力 → 新型学习生产力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A017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1752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DEE"/>
                </a:solidFill>
                <a:latin typeface="Microsoft YaHei"/>
              </a:defRPr>
            </a:pPr>
            <a:r>
              <a:t>中国数字经济与贸易政策演变趋势研究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数字经济概论 · 课程教学课件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知识库路径：数字经济政策知识库/ | 50项政策 · 4时期 · 8案例 · 趋势分析报告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